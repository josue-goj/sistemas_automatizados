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8288000" cy="10287000"/>
  <p:notesSz cx="6858000" cy="9144000"/>
  <p:embeddedFontLst>
    <p:embeddedFont>
      <p:font typeface="Montserrat Classic" panose="020B0604020202020204" charset="0"/>
      <p:regular r:id="rId11"/>
    </p:embeddedFont>
    <p:embeddedFont>
      <p:font typeface="Montserrat Classic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22" autoAdjust="0"/>
  </p:normalViewPr>
  <p:slideViewPr>
    <p:cSldViewPr>
      <p:cViewPr varScale="1">
        <p:scale>
          <a:sx n="43" d="100"/>
          <a:sy n="43" d="100"/>
        </p:scale>
        <p:origin x="1362" y="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100000">
            <a:off x="14324902" y="1469072"/>
            <a:ext cx="4879847" cy="15755995"/>
          </a:xfrm>
          <a:custGeom>
            <a:avLst/>
            <a:gdLst/>
            <a:ahLst/>
            <a:cxnLst/>
            <a:rect l="l" t="t" r="r" b="b"/>
            <a:pathLst>
              <a:path w="4879847" h="15755995">
                <a:moveTo>
                  <a:pt x="0" y="0"/>
                </a:moveTo>
                <a:lnTo>
                  <a:pt x="4879847" y="0"/>
                </a:lnTo>
                <a:lnTo>
                  <a:pt x="4879847" y="15755996"/>
                </a:lnTo>
                <a:lnTo>
                  <a:pt x="0" y="15755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525794" t="-40822" b="-5299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48727" y="2845148"/>
            <a:ext cx="16971995" cy="1798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45"/>
              </a:lnSpc>
            </a:pPr>
            <a:r>
              <a:rPr lang="en-US" sz="11871" b="1" spc="427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Portão de Garagem</a:t>
            </a:r>
          </a:p>
        </p:txBody>
      </p:sp>
      <p:sp>
        <p:nvSpPr>
          <p:cNvPr id="4" name="Freeform 4"/>
          <p:cNvSpPr/>
          <p:nvPr/>
        </p:nvSpPr>
        <p:spPr>
          <a:xfrm rot="2700000">
            <a:off x="521329" y="-3317944"/>
            <a:ext cx="2336254" cy="7543272"/>
          </a:xfrm>
          <a:custGeom>
            <a:avLst/>
            <a:gdLst/>
            <a:ahLst/>
            <a:cxnLst/>
            <a:rect l="l" t="t" r="r" b="b"/>
            <a:pathLst>
              <a:path w="2336254" h="7543272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525794" t="-40822" b="-5299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rot="5400000">
            <a:off x="-434583" y="-7892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1972758" y="7454921"/>
            <a:ext cx="540836" cy="534936"/>
          </a:xfrm>
          <a:custGeom>
            <a:avLst/>
            <a:gdLst/>
            <a:ahLst/>
            <a:cxnLst/>
            <a:rect l="l" t="t" r="r" b="b"/>
            <a:pathLst>
              <a:path w="540836" h="534936">
                <a:moveTo>
                  <a:pt x="0" y="0"/>
                </a:moveTo>
                <a:lnTo>
                  <a:pt x="540836" y="0"/>
                </a:lnTo>
                <a:lnTo>
                  <a:pt x="540836" y="534936"/>
                </a:lnTo>
                <a:lnTo>
                  <a:pt x="0" y="534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658001" y="1100303"/>
            <a:ext cx="17753445" cy="4357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60"/>
              </a:lnSpc>
            </a:pPr>
            <a:r>
              <a:rPr lang="en-US" sz="24383" b="1" spc="804" dirty="0" err="1">
                <a:solidFill>
                  <a:srgbClr val="052A47">
                    <a:alpha val="32941"/>
                  </a:srgbClr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Simulador</a:t>
            </a:r>
            <a:endParaRPr lang="en-US" sz="24383" b="1" spc="804" dirty="0">
              <a:solidFill>
                <a:srgbClr val="052A47">
                  <a:alpha val="32941"/>
                </a:srgbClr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9" name="Freeform 9"/>
          <p:cNvSpPr/>
          <p:nvPr/>
        </p:nvSpPr>
        <p:spPr>
          <a:xfrm rot="-10800000">
            <a:off x="12403005" y="4728363"/>
            <a:ext cx="7690230" cy="8054542"/>
          </a:xfrm>
          <a:custGeom>
            <a:avLst/>
            <a:gdLst/>
            <a:ahLst/>
            <a:cxnLst/>
            <a:rect l="l" t="t" r="r" b="b"/>
            <a:pathLst>
              <a:path w="7690230" h="8054542">
                <a:moveTo>
                  <a:pt x="0" y="0"/>
                </a:moveTo>
                <a:lnTo>
                  <a:pt x="7690230" y="0"/>
                </a:lnTo>
                <a:lnTo>
                  <a:pt x="7690230" y="8054542"/>
                </a:lnTo>
                <a:lnTo>
                  <a:pt x="0" y="8054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21402" b="-1591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2513594" y="6304129"/>
            <a:ext cx="11912745" cy="2558052"/>
            <a:chOff x="0" y="0"/>
            <a:chExt cx="3137513" cy="6737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37513" cy="673726"/>
            </a:xfrm>
            <a:custGeom>
              <a:avLst/>
              <a:gdLst/>
              <a:ahLst/>
              <a:cxnLst/>
              <a:rect l="l" t="t" r="r" b="b"/>
              <a:pathLst>
                <a:path w="3137513" h="673726">
                  <a:moveTo>
                    <a:pt x="33144" y="0"/>
                  </a:moveTo>
                  <a:lnTo>
                    <a:pt x="3104369" y="0"/>
                  </a:lnTo>
                  <a:cubicBezTo>
                    <a:pt x="3113159" y="0"/>
                    <a:pt x="3121590" y="3492"/>
                    <a:pt x="3127805" y="9708"/>
                  </a:cubicBezTo>
                  <a:cubicBezTo>
                    <a:pt x="3134021" y="15923"/>
                    <a:pt x="3137513" y="24354"/>
                    <a:pt x="3137513" y="33144"/>
                  </a:cubicBezTo>
                  <a:lnTo>
                    <a:pt x="3137513" y="640582"/>
                  </a:lnTo>
                  <a:cubicBezTo>
                    <a:pt x="3137513" y="649372"/>
                    <a:pt x="3134021" y="657802"/>
                    <a:pt x="3127805" y="664018"/>
                  </a:cubicBezTo>
                  <a:cubicBezTo>
                    <a:pt x="3121590" y="670234"/>
                    <a:pt x="3113159" y="673726"/>
                    <a:pt x="3104369" y="673726"/>
                  </a:cubicBezTo>
                  <a:lnTo>
                    <a:pt x="33144" y="673726"/>
                  </a:lnTo>
                  <a:cubicBezTo>
                    <a:pt x="24354" y="673726"/>
                    <a:pt x="15923" y="670234"/>
                    <a:pt x="9708" y="664018"/>
                  </a:cubicBezTo>
                  <a:cubicBezTo>
                    <a:pt x="3492" y="657802"/>
                    <a:pt x="0" y="649372"/>
                    <a:pt x="0" y="640582"/>
                  </a:cubicBezTo>
                  <a:lnTo>
                    <a:pt x="0" y="33144"/>
                  </a:lnTo>
                  <a:cubicBezTo>
                    <a:pt x="0" y="24354"/>
                    <a:pt x="3492" y="15923"/>
                    <a:pt x="9708" y="9708"/>
                  </a:cubicBezTo>
                  <a:cubicBezTo>
                    <a:pt x="15923" y="3492"/>
                    <a:pt x="24354" y="0"/>
                    <a:pt x="3314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137513" cy="721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74372" y="4908038"/>
            <a:ext cx="3899176" cy="71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6"/>
              </a:lnSpc>
            </a:pPr>
            <a:r>
              <a:rPr lang="en-US" sz="4697" b="1" spc="169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Trabalho A3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21580" y="6581648"/>
            <a:ext cx="11604758" cy="2428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6"/>
              </a:lnSpc>
            </a:pPr>
            <a:r>
              <a:rPr lang="en-US" sz="3197" spc="115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GABRIEL SILVA FERREIRA - 825147659</a:t>
            </a:r>
          </a:p>
          <a:p>
            <a:pPr algn="l">
              <a:lnSpc>
                <a:spcPts val="3836"/>
              </a:lnSpc>
            </a:pPr>
            <a:r>
              <a:rPr lang="en-US" sz="3197" spc="115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GABRIEL HENRIQUE MARQUES DE DEUS - 825153367</a:t>
            </a:r>
          </a:p>
          <a:p>
            <a:pPr algn="l">
              <a:lnSpc>
                <a:spcPts val="3836"/>
              </a:lnSpc>
            </a:pPr>
            <a:r>
              <a:rPr lang="en-US" sz="3197" spc="115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ANNA LAURA BIRELI CASELLATO - 825155994</a:t>
            </a:r>
          </a:p>
          <a:p>
            <a:pPr algn="l">
              <a:lnSpc>
                <a:spcPts val="3836"/>
              </a:lnSpc>
            </a:pPr>
            <a:r>
              <a:rPr lang="en-US" sz="3197" spc="115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JOSUÉ GOMES DE OLIVEIRA JUNIOR - 825156617</a:t>
            </a:r>
          </a:p>
          <a:p>
            <a:pPr algn="l">
              <a:lnSpc>
                <a:spcPts val="3836"/>
              </a:lnSpc>
            </a:pPr>
            <a:endParaRPr lang="en-US" sz="3197" spc="115">
              <a:solidFill>
                <a:srgbClr val="2A2E3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31041">
            <a:off x="14604801" y="-2810509"/>
            <a:ext cx="3889773" cy="12559257"/>
          </a:xfrm>
          <a:custGeom>
            <a:avLst/>
            <a:gdLst/>
            <a:ahLst/>
            <a:cxnLst/>
            <a:rect l="l" t="t" r="r" b="b"/>
            <a:pathLst>
              <a:path w="3889773" h="12559257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525794" t="-40822" b="-52994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 rot="-2468074">
            <a:off x="13918097" y="4882637"/>
            <a:ext cx="8739806" cy="5324588"/>
            <a:chOff x="0" y="0"/>
            <a:chExt cx="2301842" cy="14023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01842" cy="1402361"/>
            </a:xfrm>
            <a:custGeom>
              <a:avLst/>
              <a:gdLst/>
              <a:ahLst/>
              <a:cxnLst/>
              <a:rect l="l" t="t" r="r" b="b"/>
              <a:pathLst>
                <a:path w="2301842" h="1402361">
                  <a:moveTo>
                    <a:pt x="0" y="0"/>
                  </a:moveTo>
                  <a:lnTo>
                    <a:pt x="2301842" y="0"/>
                  </a:lnTo>
                  <a:lnTo>
                    <a:pt x="2301842" y="1402361"/>
                  </a:lnTo>
                  <a:lnTo>
                    <a:pt x="0" y="1402361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301842" cy="1449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68074">
            <a:off x="15432242" y="6369777"/>
            <a:ext cx="4609127" cy="4873542"/>
            <a:chOff x="0" y="0"/>
            <a:chExt cx="1213926" cy="12835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3926" cy="1283567"/>
            </a:xfrm>
            <a:custGeom>
              <a:avLst/>
              <a:gdLst/>
              <a:ahLst/>
              <a:cxnLst/>
              <a:rect l="l" t="t" r="r" b="b"/>
              <a:pathLst>
                <a:path w="1213926" h="1283567">
                  <a:moveTo>
                    <a:pt x="0" y="0"/>
                  </a:moveTo>
                  <a:lnTo>
                    <a:pt x="1213926" y="0"/>
                  </a:lnTo>
                  <a:lnTo>
                    <a:pt x="1213926" y="1283567"/>
                  </a:lnTo>
                  <a:lnTo>
                    <a:pt x="0" y="1283567"/>
                  </a:lnTo>
                  <a:close/>
                </a:path>
              </a:pathLst>
            </a:custGeom>
            <a:ln w="38100" cap="sq">
              <a:solidFill>
                <a:srgbClr val="32AAC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13926" cy="1331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3668283" y="7083969"/>
            <a:ext cx="6882684" cy="6882684"/>
          </a:xfrm>
          <a:custGeom>
            <a:avLst/>
            <a:gdLst/>
            <a:ahLst/>
            <a:cxnLst/>
            <a:rect l="l" t="t" r="r" b="b"/>
            <a:pathLst>
              <a:path w="6882684" h="6882684">
                <a:moveTo>
                  <a:pt x="0" y="0"/>
                </a:moveTo>
                <a:lnTo>
                  <a:pt x="6882685" y="0"/>
                </a:lnTo>
                <a:lnTo>
                  <a:pt x="6882685" y="6882685"/>
                </a:lnTo>
                <a:lnTo>
                  <a:pt x="0" y="68826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3" name="AutoShape 13"/>
          <p:cNvSpPr/>
          <p:nvPr/>
        </p:nvSpPr>
        <p:spPr>
          <a:xfrm flipH="1" flipV="1">
            <a:off x="2796146" y="2161512"/>
            <a:ext cx="0" cy="6645036"/>
          </a:xfrm>
          <a:prstGeom prst="line">
            <a:avLst/>
          </a:prstGeom>
          <a:ln w="38100" cap="flat">
            <a:solidFill>
              <a:srgbClr val="052A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6" name="Group 16"/>
          <p:cNvGrpSpPr/>
          <p:nvPr/>
        </p:nvGrpSpPr>
        <p:grpSpPr>
          <a:xfrm>
            <a:off x="12701588" y="6388418"/>
            <a:ext cx="111442" cy="108585"/>
            <a:chOff x="0" y="0"/>
            <a:chExt cx="148590" cy="144780"/>
          </a:xfrm>
        </p:grpSpPr>
        <p:sp>
          <p:nvSpPr>
            <p:cNvPr id="17" name="Freeform 17"/>
            <p:cNvSpPr/>
            <p:nvPr/>
          </p:nvSpPr>
          <p:spPr>
            <a:xfrm>
              <a:off x="48446" y="48830"/>
              <a:ext cx="48074" cy="40010"/>
            </a:xfrm>
            <a:custGeom>
              <a:avLst/>
              <a:gdLst/>
              <a:ahLst/>
              <a:cxnLst/>
              <a:rect l="l" t="t" r="r" b="b"/>
              <a:pathLst>
                <a:path w="48074" h="40010">
                  <a:moveTo>
                    <a:pt x="48074" y="13400"/>
                  </a:moveTo>
                  <a:cubicBezTo>
                    <a:pt x="26484" y="47690"/>
                    <a:pt x="6164" y="41340"/>
                    <a:pt x="2354" y="34990"/>
                  </a:cubicBezTo>
                  <a:cubicBezTo>
                    <a:pt x="-2726" y="27370"/>
                    <a:pt x="1084" y="7050"/>
                    <a:pt x="7434" y="1970"/>
                  </a:cubicBezTo>
                  <a:cubicBezTo>
                    <a:pt x="15054" y="-3110"/>
                    <a:pt x="41724" y="3240"/>
                    <a:pt x="41724" y="3240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956100" y="1988820"/>
            <a:ext cx="13122100" cy="749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93"/>
              </a:lnSpc>
            </a:pPr>
            <a:r>
              <a:rPr lang="en-US" sz="4072" spc="48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Problema abordado;</a:t>
            </a:r>
          </a:p>
          <a:p>
            <a:pPr algn="l">
              <a:lnSpc>
                <a:spcPts val="8593"/>
              </a:lnSpc>
            </a:pPr>
            <a:r>
              <a:rPr lang="en-US" sz="4072" spc="48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Descrição do sistema;</a:t>
            </a:r>
          </a:p>
          <a:p>
            <a:pPr algn="l">
              <a:lnSpc>
                <a:spcPts val="8593"/>
              </a:lnSpc>
            </a:pPr>
            <a:r>
              <a:rPr lang="en-US" sz="4072" spc="48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Arquitetura da automação;</a:t>
            </a:r>
          </a:p>
          <a:p>
            <a:pPr algn="l">
              <a:lnSpc>
                <a:spcPts val="8593"/>
              </a:lnSpc>
            </a:pPr>
            <a:r>
              <a:rPr lang="en-US" sz="4072" spc="48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Lógica de controle;</a:t>
            </a:r>
          </a:p>
          <a:p>
            <a:pPr algn="l">
              <a:lnSpc>
                <a:spcPts val="8593"/>
              </a:lnSpc>
            </a:pPr>
            <a:r>
              <a:rPr lang="en-US" sz="4072" spc="48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Demonstração da simulação;</a:t>
            </a:r>
          </a:p>
          <a:p>
            <a:pPr algn="l">
              <a:lnSpc>
                <a:spcPts val="8593"/>
              </a:lnSpc>
            </a:pPr>
            <a:r>
              <a:rPr lang="en-US" sz="4072" spc="48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Conclusões do Projeto; </a:t>
            </a:r>
          </a:p>
          <a:p>
            <a:pPr marL="0" lvl="0" indent="0" algn="l">
              <a:lnSpc>
                <a:spcPts val="8593"/>
              </a:lnSpc>
            </a:pPr>
            <a:endParaRPr lang="en-US" sz="4072" spc="480">
              <a:solidFill>
                <a:srgbClr val="2A2E3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82835" y="738451"/>
            <a:ext cx="4588794" cy="1072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7"/>
              </a:lnSpc>
              <a:spcBef>
                <a:spcPct val="0"/>
              </a:spcBef>
            </a:pPr>
            <a:r>
              <a:rPr lang="en-US" sz="7080" b="1" spc="254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Agenda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71206" y="2082641"/>
            <a:ext cx="963015" cy="6377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07"/>
              </a:lnSpc>
            </a:pPr>
            <a:r>
              <a:rPr lang="en-US" sz="4325" b="1" spc="194">
                <a:solidFill>
                  <a:srgbClr val="145DA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01</a:t>
            </a:r>
          </a:p>
          <a:p>
            <a:pPr algn="l">
              <a:lnSpc>
                <a:spcPts val="8607"/>
              </a:lnSpc>
            </a:pPr>
            <a:r>
              <a:rPr lang="en-US" sz="4325" b="1" spc="194">
                <a:solidFill>
                  <a:srgbClr val="145DA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02</a:t>
            </a:r>
          </a:p>
          <a:p>
            <a:pPr algn="l">
              <a:lnSpc>
                <a:spcPts val="8607"/>
              </a:lnSpc>
            </a:pPr>
            <a:r>
              <a:rPr lang="en-US" sz="4325" b="1" spc="194">
                <a:solidFill>
                  <a:srgbClr val="145DA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03</a:t>
            </a:r>
          </a:p>
          <a:p>
            <a:pPr algn="l">
              <a:lnSpc>
                <a:spcPts val="8607"/>
              </a:lnSpc>
            </a:pPr>
            <a:r>
              <a:rPr lang="en-US" sz="4325" b="1" spc="194">
                <a:solidFill>
                  <a:srgbClr val="145DA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04</a:t>
            </a:r>
          </a:p>
          <a:p>
            <a:pPr algn="l">
              <a:lnSpc>
                <a:spcPts val="8607"/>
              </a:lnSpc>
            </a:pPr>
            <a:r>
              <a:rPr lang="en-US" sz="4325" b="1" spc="194">
                <a:solidFill>
                  <a:srgbClr val="145DA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05</a:t>
            </a:r>
          </a:p>
          <a:p>
            <a:pPr marL="0" lvl="0" indent="0" algn="l">
              <a:lnSpc>
                <a:spcPts val="8607"/>
              </a:lnSpc>
            </a:pPr>
            <a:r>
              <a:rPr lang="en-US" sz="4325" b="1" spc="194">
                <a:solidFill>
                  <a:srgbClr val="145DA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06</a:t>
            </a:r>
          </a:p>
        </p:txBody>
      </p:sp>
      <p:sp>
        <p:nvSpPr>
          <p:cNvPr id="21" name="Freeform 21"/>
          <p:cNvSpPr/>
          <p:nvPr/>
        </p:nvSpPr>
        <p:spPr>
          <a:xfrm rot="243741">
            <a:off x="13084889" y="-6275862"/>
            <a:ext cx="11219191" cy="11219191"/>
          </a:xfrm>
          <a:custGeom>
            <a:avLst/>
            <a:gdLst/>
            <a:ahLst/>
            <a:cxnLst/>
            <a:rect l="l" t="t" r="r" b="b"/>
            <a:pathLst>
              <a:path w="11219191" h="11219191">
                <a:moveTo>
                  <a:pt x="0" y="0"/>
                </a:moveTo>
                <a:lnTo>
                  <a:pt x="11219191" y="0"/>
                </a:lnTo>
                <a:lnTo>
                  <a:pt x="11219191" y="11219191"/>
                </a:lnTo>
                <a:lnTo>
                  <a:pt x="0" y="11219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108079" y="9326673"/>
            <a:ext cx="7734963" cy="6698478"/>
            <a:chOff x="0" y="0"/>
            <a:chExt cx="6350000" cy="549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4762500" y="2749550"/>
                  </a:moveTo>
                  <a:lnTo>
                    <a:pt x="3175000" y="0"/>
                  </a:lnTo>
                  <a:lnTo>
                    <a:pt x="1587500" y="2749550"/>
                  </a:lnTo>
                  <a:lnTo>
                    <a:pt x="0" y="5499100"/>
                  </a:lnTo>
                  <a:lnTo>
                    <a:pt x="6350000" y="5499100"/>
                  </a:lnTo>
                  <a:close/>
                </a:path>
              </a:pathLst>
            </a:custGeom>
            <a:blipFill>
              <a:blip r:embed="rId2"/>
              <a:stretch>
                <a:fillRect l="-61110" r="-61110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0560735" y="-1748356"/>
            <a:ext cx="12653343" cy="5897734"/>
          </a:xfrm>
          <a:custGeom>
            <a:avLst/>
            <a:gdLst/>
            <a:ahLst/>
            <a:cxnLst/>
            <a:rect l="l" t="t" r="r" b="b"/>
            <a:pathLst>
              <a:path w="12653343" h="5897734">
                <a:moveTo>
                  <a:pt x="0" y="0"/>
                </a:moveTo>
                <a:lnTo>
                  <a:pt x="12653343" y="0"/>
                </a:lnTo>
                <a:lnTo>
                  <a:pt x="12653343" y="5897734"/>
                </a:lnTo>
                <a:lnTo>
                  <a:pt x="0" y="58977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54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rot="-10800000">
            <a:off x="-3080673" y="7603013"/>
            <a:ext cx="7102699" cy="3310574"/>
          </a:xfrm>
          <a:custGeom>
            <a:avLst/>
            <a:gdLst/>
            <a:ahLst/>
            <a:cxnLst/>
            <a:rect l="l" t="t" r="r" b="b"/>
            <a:pathLst>
              <a:path w="7102699" h="3310574">
                <a:moveTo>
                  <a:pt x="0" y="0"/>
                </a:moveTo>
                <a:lnTo>
                  <a:pt x="7102699" y="0"/>
                </a:lnTo>
                <a:lnTo>
                  <a:pt x="7102699" y="3310574"/>
                </a:lnTo>
                <a:lnTo>
                  <a:pt x="0" y="33105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1454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753539" y="2436521"/>
            <a:ext cx="11289679" cy="5856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177" lvl="1" indent="-326089" algn="l">
              <a:lnSpc>
                <a:spcPts val="4229"/>
              </a:lnSpc>
              <a:buFont typeface="Arial"/>
              <a:buChar char="•"/>
            </a:pP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Objetivo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: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Controlar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a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abertura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e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fechamento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de um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portão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deslizante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de forma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autônoma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e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segura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.</a:t>
            </a:r>
          </a:p>
          <a:p>
            <a:pPr algn="l">
              <a:lnSpc>
                <a:spcPts val="4229"/>
              </a:lnSpc>
            </a:pPr>
            <a:endParaRPr lang="en-US" sz="3020" spc="135" dirty="0">
              <a:solidFill>
                <a:srgbClr val="2A2E3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652177" lvl="1" indent="-326089" algn="l">
              <a:lnSpc>
                <a:spcPts val="4229"/>
              </a:lnSpc>
              <a:buFont typeface="Arial"/>
              <a:buChar char="•"/>
            </a:pP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O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Problema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: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Evitar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acidentes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(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esmagamento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) e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proteger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o motor contra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curtos-circuitos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(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acionamentos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simultâneos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).</a:t>
            </a:r>
          </a:p>
          <a:p>
            <a:pPr algn="l">
              <a:lnSpc>
                <a:spcPts val="4229"/>
              </a:lnSpc>
            </a:pPr>
            <a:endParaRPr lang="en-US" sz="3020" spc="135" dirty="0">
              <a:solidFill>
                <a:srgbClr val="2A2E3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652177" lvl="1" indent="-326089" algn="l">
              <a:lnSpc>
                <a:spcPts val="4229"/>
              </a:lnSpc>
              <a:buFont typeface="Arial"/>
              <a:buChar char="•"/>
            </a:pP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Solução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: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Utilizar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um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Controlador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Lógico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Programável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(CLP) com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intertravamentos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de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segurança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e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sensores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de </a:t>
            </a:r>
            <a:r>
              <a:rPr lang="en-US" sz="3020" spc="135" dirty="0" err="1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barreira</a:t>
            </a:r>
            <a:r>
              <a:rPr lang="en-US" sz="3020" spc="135" dirty="0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.</a:t>
            </a:r>
          </a:p>
          <a:p>
            <a:pPr marL="0" lvl="0" indent="0" algn="l">
              <a:lnSpc>
                <a:spcPts val="4229"/>
              </a:lnSpc>
              <a:spcBef>
                <a:spcPct val="0"/>
              </a:spcBef>
            </a:pPr>
            <a:endParaRPr lang="en-US" sz="3020" spc="135" dirty="0">
              <a:solidFill>
                <a:srgbClr val="2A2E3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2241615" y="3156910"/>
            <a:ext cx="5460930" cy="4990160"/>
          </a:xfrm>
          <a:custGeom>
            <a:avLst/>
            <a:gdLst/>
            <a:ahLst/>
            <a:cxnLst/>
            <a:rect l="l" t="t" r="r" b="b"/>
            <a:pathLst>
              <a:path w="5460930" h="4990160">
                <a:moveTo>
                  <a:pt x="0" y="0"/>
                </a:moveTo>
                <a:lnTo>
                  <a:pt x="5460930" y="0"/>
                </a:lnTo>
                <a:lnTo>
                  <a:pt x="5460930" y="4990160"/>
                </a:lnTo>
                <a:lnTo>
                  <a:pt x="0" y="49901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753539" y="1065844"/>
            <a:ext cx="10027710" cy="85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729"/>
              </a:lnSpc>
              <a:spcBef>
                <a:spcPct val="0"/>
              </a:spcBef>
            </a:pPr>
            <a:r>
              <a:rPr lang="en-US" sz="5607" b="1" spc="201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Problema abordado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4713734">
            <a:off x="19607762" y="-2216802"/>
            <a:ext cx="2945028" cy="5777885"/>
            <a:chOff x="0" y="0"/>
            <a:chExt cx="406400" cy="7973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400" cy="797321"/>
            </a:xfrm>
            <a:custGeom>
              <a:avLst/>
              <a:gdLst/>
              <a:ahLst/>
              <a:cxnLst/>
              <a:rect l="l" t="t" r="r" b="b"/>
              <a:pathLst>
                <a:path w="406400" h="797321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71921" y="-634385"/>
            <a:ext cx="2743842" cy="5383177"/>
            <a:chOff x="0" y="0"/>
            <a:chExt cx="406400" cy="7973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6400" cy="797321"/>
            </a:xfrm>
            <a:custGeom>
              <a:avLst/>
              <a:gdLst/>
              <a:ahLst/>
              <a:cxnLst/>
              <a:rect l="l" t="t" r="r" b="b"/>
              <a:pathLst>
                <a:path w="406400" h="797321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8" name="Object 8"/>
          <p:cNvGraphicFramePr/>
          <p:nvPr/>
        </p:nvGraphicFramePr>
        <p:xfrm>
          <a:off x="932589" y="1943710"/>
          <a:ext cx="7543800" cy="440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042400" imgH="5905500" progId="Excel.Sheet.12">
                  <p:embed/>
                </p:oleObj>
              </mc:Choice>
              <mc:Fallback>
                <p:oleObj name="Worksheet" r:id="rId2" imgW="9042400" imgH="5905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32589" y="1943710"/>
                        <a:ext cx="7543800" cy="440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3974132" y="4288667"/>
            <a:ext cx="10706226" cy="497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9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290538" y="411216"/>
            <a:ext cx="13389820" cy="9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17"/>
              </a:lnSpc>
              <a:spcBef>
                <a:spcPct val="0"/>
              </a:spcBef>
            </a:pPr>
            <a:r>
              <a:rPr lang="en-US" sz="6264" b="1" spc="225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Descrição do sistema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80EBF2D-6F5A-8687-4827-8DE4AA0A2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62" y="1543828"/>
            <a:ext cx="16343796" cy="80053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74132" y="4288667"/>
            <a:ext cx="10706226" cy="497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9"/>
              </a:lnSpc>
              <a:spcBef>
                <a:spcPct val="0"/>
              </a:spcBef>
            </a:pPr>
            <a:endParaRPr/>
          </a:p>
        </p:txBody>
      </p:sp>
      <p:grpSp>
        <p:nvGrpSpPr>
          <p:cNvPr id="3" name="Group 3"/>
          <p:cNvGrpSpPr/>
          <p:nvPr/>
        </p:nvGrpSpPr>
        <p:grpSpPr>
          <a:xfrm rot="4713734">
            <a:off x="19607762" y="-2216802"/>
            <a:ext cx="2945028" cy="5777885"/>
            <a:chOff x="0" y="0"/>
            <a:chExt cx="406400" cy="7973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6400" cy="797321"/>
            </a:xfrm>
            <a:custGeom>
              <a:avLst/>
              <a:gdLst/>
              <a:ahLst/>
              <a:cxnLst/>
              <a:rect l="l" t="t" r="r" b="b"/>
              <a:pathLst>
                <a:path w="406400" h="797321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371921" y="-634385"/>
            <a:ext cx="2743842" cy="5383177"/>
            <a:chOff x="0" y="0"/>
            <a:chExt cx="406400" cy="7973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400" cy="797321"/>
            </a:xfrm>
            <a:custGeom>
              <a:avLst/>
              <a:gdLst/>
              <a:ahLst/>
              <a:cxnLst/>
              <a:rect l="l" t="t" r="r" b="b"/>
              <a:pathLst>
                <a:path w="406400" h="797321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707253" y="1365121"/>
            <a:ext cx="12422924" cy="8643078"/>
            <a:chOff x="0" y="0"/>
            <a:chExt cx="1370434" cy="9534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0434" cy="953461"/>
            </a:xfrm>
            <a:custGeom>
              <a:avLst/>
              <a:gdLst/>
              <a:ahLst/>
              <a:cxnLst/>
              <a:rect l="l" t="t" r="r" b="b"/>
              <a:pathLst>
                <a:path w="1370434" h="953461">
                  <a:moveTo>
                    <a:pt x="0" y="0"/>
                  </a:moveTo>
                  <a:lnTo>
                    <a:pt x="1370434" y="0"/>
                  </a:lnTo>
                  <a:lnTo>
                    <a:pt x="1370434" y="953461"/>
                  </a:lnTo>
                  <a:lnTo>
                    <a:pt x="0" y="953461"/>
                  </a:lnTo>
                  <a:close/>
                </a:path>
              </a:pathLst>
            </a:custGeom>
            <a:blipFill>
              <a:blip r:embed="rId2"/>
              <a:stretch>
                <a:fillRect t="-1384" b="-138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90538" y="411216"/>
            <a:ext cx="13389820" cy="9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17"/>
              </a:lnSpc>
              <a:spcBef>
                <a:spcPct val="0"/>
              </a:spcBef>
            </a:pPr>
            <a:r>
              <a:rPr lang="en-US" sz="6264" b="1" spc="225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Arquitetura da automação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19606">
            <a:off x="11334035" y="-1136129"/>
            <a:ext cx="3889773" cy="12559257"/>
          </a:xfrm>
          <a:custGeom>
            <a:avLst/>
            <a:gdLst/>
            <a:ahLst/>
            <a:cxnLst/>
            <a:rect l="l" t="t" r="r" b="b"/>
            <a:pathLst>
              <a:path w="3889773" h="12559257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525794" t="-40822" b="-52994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 rot="721907">
            <a:off x="12976280" y="-1158327"/>
            <a:ext cx="8981737" cy="13081995"/>
            <a:chOff x="0" y="0"/>
            <a:chExt cx="2365560" cy="34454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65560" cy="3445464"/>
            </a:xfrm>
            <a:custGeom>
              <a:avLst/>
              <a:gdLst/>
              <a:ahLst/>
              <a:cxnLst/>
              <a:rect l="l" t="t" r="r" b="b"/>
              <a:pathLst>
                <a:path w="2365560" h="3445464">
                  <a:moveTo>
                    <a:pt x="0" y="0"/>
                  </a:moveTo>
                  <a:lnTo>
                    <a:pt x="2365560" y="0"/>
                  </a:lnTo>
                  <a:lnTo>
                    <a:pt x="2365560" y="3445464"/>
                  </a:lnTo>
                  <a:lnTo>
                    <a:pt x="0" y="3445464"/>
                  </a:lnTo>
                  <a:close/>
                </a:path>
              </a:pathLst>
            </a:custGeom>
            <a:solidFill>
              <a:srgbClr val="052A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365560" cy="349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642" y="2150429"/>
            <a:ext cx="11782146" cy="592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2361" lvl="1" indent="-301180" algn="l">
              <a:lnSpc>
                <a:spcPts val="3906"/>
              </a:lnSpc>
              <a:buFont typeface="Arial"/>
              <a:buChar char="•"/>
            </a:pPr>
            <a:r>
              <a:rPr lang="en-US" sz="2790" spc="125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Intertravamento Elétrico: O contato Normalmente Fechado (NF) de um motor bloqueia a linha do outro. É impossível o portão tentar abrir e fechar ao mesmo tempo.</a:t>
            </a:r>
          </a:p>
          <a:p>
            <a:pPr algn="l">
              <a:lnSpc>
                <a:spcPts val="3906"/>
              </a:lnSpc>
            </a:pPr>
            <a:endParaRPr lang="en-US" sz="2790" spc="125">
              <a:solidFill>
                <a:srgbClr val="2A2E3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602361" lvl="1" indent="-301180" algn="l">
              <a:lnSpc>
                <a:spcPts val="3906"/>
              </a:lnSpc>
              <a:buFont typeface="Arial"/>
              <a:buChar char="•"/>
            </a:pPr>
            <a:r>
              <a:rPr lang="en-US" sz="2790" spc="125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Sistema Antiesmagamento: A prioridade máxima é do sensor de segurança.</a:t>
            </a:r>
          </a:p>
          <a:p>
            <a:pPr algn="l">
              <a:lnSpc>
                <a:spcPts val="3906"/>
              </a:lnSpc>
            </a:pPr>
            <a:endParaRPr lang="en-US" sz="2790" spc="125">
              <a:solidFill>
                <a:srgbClr val="2A2E3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602361" lvl="1" indent="-301180" algn="l">
              <a:lnSpc>
                <a:spcPts val="3906"/>
              </a:lnSpc>
              <a:buFont typeface="Arial"/>
              <a:buChar char="•"/>
            </a:pPr>
            <a:r>
              <a:rPr lang="en-US" sz="2790" spc="125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Reversão Imediata: Se um obstáculo for detectado durante o fechamento, o MOT_FECHAR é cortado na mesma hora e o MOT_ABRIR é ativado.</a:t>
            </a:r>
          </a:p>
          <a:p>
            <a:pPr marL="0" lvl="0" indent="0" algn="l">
              <a:lnSpc>
                <a:spcPts val="3906"/>
              </a:lnSpc>
              <a:spcBef>
                <a:spcPct val="0"/>
              </a:spcBef>
            </a:pPr>
            <a:endParaRPr lang="en-US" sz="2790" spc="125">
              <a:solidFill>
                <a:srgbClr val="2A2E3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13" name="Freeform 13"/>
          <p:cNvSpPr/>
          <p:nvPr/>
        </p:nvSpPr>
        <p:spPr>
          <a:xfrm rot="5886317">
            <a:off x="15150151" y="8474648"/>
            <a:ext cx="8522879" cy="7027824"/>
          </a:xfrm>
          <a:custGeom>
            <a:avLst/>
            <a:gdLst/>
            <a:ahLst/>
            <a:cxnLst/>
            <a:rect l="l" t="t" r="r" b="b"/>
            <a:pathLst>
              <a:path w="8522879" h="7027824">
                <a:moveTo>
                  <a:pt x="0" y="0"/>
                </a:moveTo>
                <a:lnTo>
                  <a:pt x="8522879" y="0"/>
                </a:lnTo>
                <a:lnTo>
                  <a:pt x="8522879" y="7027824"/>
                </a:lnTo>
                <a:lnTo>
                  <a:pt x="0" y="70278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4" name="Freeform 14"/>
          <p:cNvSpPr/>
          <p:nvPr/>
        </p:nvSpPr>
        <p:spPr>
          <a:xfrm>
            <a:off x="12972780" y="3535367"/>
            <a:ext cx="5476048" cy="4067922"/>
          </a:xfrm>
          <a:custGeom>
            <a:avLst/>
            <a:gdLst/>
            <a:ahLst/>
            <a:cxnLst/>
            <a:rect l="l" t="t" r="r" b="b"/>
            <a:pathLst>
              <a:path w="5476048" h="4067922">
                <a:moveTo>
                  <a:pt x="0" y="0"/>
                </a:moveTo>
                <a:lnTo>
                  <a:pt x="5476048" y="0"/>
                </a:lnTo>
                <a:lnTo>
                  <a:pt x="5476048" y="4067921"/>
                </a:lnTo>
                <a:lnTo>
                  <a:pt x="0" y="4067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582" t="-14508" r="-15481" b="-436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377926" y="393762"/>
            <a:ext cx="12594854" cy="90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92"/>
              </a:lnSpc>
              <a:spcBef>
                <a:spcPct val="0"/>
              </a:spcBef>
            </a:pPr>
            <a:r>
              <a:rPr lang="en-US" sz="5910" b="1" spc="212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Lógica de controle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4944330" y="-6134429"/>
            <a:ext cx="6449593" cy="9554097"/>
            <a:chOff x="0" y="0"/>
            <a:chExt cx="812800" cy="1204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204040"/>
            </a:xfrm>
            <a:custGeom>
              <a:avLst/>
              <a:gdLst/>
              <a:ahLst/>
              <a:cxnLst/>
              <a:rect l="l" t="t" r="r" b="b"/>
              <a:pathLst>
                <a:path w="812800" h="120404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7800" y="-47625"/>
              <a:ext cx="558800" cy="1251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71895" y="-9525"/>
            <a:ext cx="14595576" cy="97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615"/>
              </a:lnSpc>
              <a:spcBef>
                <a:spcPct val="0"/>
              </a:spcBef>
            </a:pPr>
            <a:r>
              <a:rPr lang="en-US" sz="6346" b="1" spc="228" dirty="0" err="1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Demonstração</a:t>
            </a:r>
            <a:r>
              <a:rPr lang="en-US" sz="6346" b="1" spc="228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da </a:t>
            </a:r>
            <a:r>
              <a:rPr lang="en-US" sz="6346" b="1" spc="228" dirty="0" err="1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simulação</a:t>
            </a:r>
            <a:endParaRPr lang="en-US" sz="6346" b="1" spc="228" dirty="0">
              <a:solidFill>
                <a:srgbClr val="2A2E3A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603745B-B7D8-9DB7-E28A-398E09840B87}"/>
              </a:ext>
            </a:extLst>
          </p:cNvPr>
          <p:cNvSpPr txBox="1"/>
          <p:nvPr/>
        </p:nvSpPr>
        <p:spPr>
          <a:xfrm>
            <a:off x="1295400" y="5829300"/>
            <a:ext cx="1524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https://drive.google.com/file/d/190bRui-ktH3TdloAY9QzcwcDEPyGesbP/view?usp=sharing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F08E943C-91E5-E855-86AB-287BB5AC2C4F}"/>
              </a:ext>
            </a:extLst>
          </p:cNvPr>
          <p:cNvSpPr txBox="1"/>
          <p:nvPr/>
        </p:nvSpPr>
        <p:spPr>
          <a:xfrm>
            <a:off x="457200" y="3634060"/>
            <a:ext cx="17830800" cy="194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7615"/>
              </a:lnSpc>
              <a:spcBef>
                <a:spcPct val="0"/>
              </a:spcBef>
            </a:pPr>
            <a:r>
              <a:rPr lang="en-US" sz="6346" b="1" spc="228" dirty="0" err="1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Acesse</a:t>
            </a:r>
            <a:r>
              <a:rPr lang="en-US" sz="6346" b="1" spc="228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6346" b="1" spc="228" dirty="0" err="1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por</a:t>
            </a:r>
            <a:r>
              <a:rPr lang="en-US" sz="6346" b="1" spc="228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6346" b="1" spc="228" dirty="0" err="1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meio</a:t>
            </a:r>
            <a:r>
              <a:rPr lang="en-US" sz="6346" b="1" spc="228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6346" b="1" spc="228" dirty="0" err="1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desse</a:t>
            </a:r>
            <a:r>
              <a:rPr lang="en-US" sz="6346" b="1" spc="228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link o video do </a:t>
            </a:r>
            <a:r>
              <a:rPr lang="en-US" sz="6346" b="1" spc="228" dirty="0" err="1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simulador</a:t>
            </a:r>
            <a:endParaRPr lang="en-US" sz="6346" b="1" spc="228" dirty="0">
              <a:solidFill>
                <a:srgbClr val="2A2E3A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978476">
            <a:off x="16126190" y="-1136129"/>
            <a:ext cx="3889773" cy="12559257"/>
          </a:xfrm>
          <a:custGeom>
            <a:avLst/>
            <a:gdLst/>
            <a:ahLst/>
            <a:cxnLst/>
            <a:rect l="l" t="t" r="r" b="b"/>
            <a:pathLst>
              <a:path w="3889773" h="12559257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525794" t="-40822" b="-52994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6283741" y="0"/>
            <a:ext cx="9826764" cy="11487702"/>
            <a:chOff x="0" y="0"/>
            <a:chExt cx="8799447" cy="10286746"/>
          </a:xfrm>
        </p:grpSpPr>
        <p:sp>
          <p:nvSpPr>
            <p:cNvPr id="4" name="Freeform 4"/>
            <p:cNvSpPr/>
            <p:nvPr/>
          </p:nvSpPr>
          <p:spPr>
            <a:xfrm>
              <a:off x="-25" y="-127"/>
              <a:ext cx="8799472" cy="10286873"/>
            </a:xfrm>
            <a:custGeom>
              <a:avLst/>
              <a:gdLst/>
              <a:ahLst/>
              <a:cxnLst/>
              <a:rect l="l" t="t" r="r" b="b"/>
              <a:pathLst>
                <a:path w="8799472" h="10286873">
                  <a:moveTo>
                    <a:pt x="8799472" y="10251440"/>
                  </a:moveTo>
                  <a:cubicBezTo>
                    <a:pt x="8799472" y="10284587"/>
                    <a:pt x="8788560" y="10286873"/>
                    <a:pt x="8760114" y="10286873"/>
                  </a:cubicBezTo>
                  <a:cubicBezTo>
                    <a:pt x="5840474" y="10286238"/>
                    <a:pt x="2920964" y="10286238"/>
                    <a:pt x="1324" y="10286238"/>
                  </a:cubicBezTo>
                  <a:cubicBezTo>
                    <a:pt x="-2769" y="10272395"/>
                    <a:pt x="3662" y="10259822"/>
                    <a:pt x="6650" y="10246995"/>
                  </a:cubicBezTo>
                  <a:cubicBezTo>
                    <a:pt x="134986" y="9685401"/>
                    <a:pt x="263451" y="9123934"/>
                    <a:pt x="392177" y="8562467"/>
                  </a:cubicBezTo>
                  <a:cubicBezTo>
                    <a:pt x="575718" y="7761986"/>
                    <a:pt x="759648" y="6961632"/>
                    <a:pt x="943059" y="6161151"/>
                  </a:cubicBezTo>
                  <a:cubicBezTo>
                    <a:pt x="1169596" y="5172583"/>
                    <a:pt x="1395612" y="4184015"/>
                    <a:pt x="1622018" y="3195574"/>
                  </a:cubicBezTo>
                  <a:cubicBezTo>
                    <a:pt x="1852062" y="2191385"/>
                    <a:pt x="2082235" y="1187323"/>
                    <a:pt x="2312927" y="183261"/>
                  </a:cubicBezTo>
                  <a:cubicBezTo>
                    <a:pt x="2326956" y="122174"/>
                    <a:pt x="2335919" y="59690"/>
                    <a:pt x="2358650" y="635"/>
                  </a:cubicBezTo>
                  <a:cubicBezTo>
                    <a:pt x="4492558" y="635"/>
                    <a:pt x="6626466" y="635"/>
                    <a:pt x="8760373" y="0"/>
                  </a:cubicBezTo>
                  <a:cubicBezTo>
                    <a:pt x="8789340" y="0"/>
                    <a:pt x="8799212" y="3429"/>
                    <a:pt x="8799212" y="35814"/>
                  </a:cubicBezTo>
                  <a:cubicBezTo>
                    <a:pt x="8798432" y="3441065"/>
                    <a:pt x="8798432" y="6846316"/>
                    <a:pt x="8799472" y="10251440"/>
                  </a:cubicBez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05262" y="780864"/>
            <a:ext cx="13411087" cy="97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615"/>
              </a:lnSpc>
              <a:spcBef>
                <a:spcPct val="0"/>
              </a:spcBef>
            </a:pPr>
            <a:r>
              <a:rPr lang="en-US" sz="6346" b="1" spc="228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Conclusões do Projeto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4944330" y="-6134429"/>
            <a:ext cx="6449593" cy="9554097"/>
            <a:chOff x="0" y="0"/>
            <a:chExt cx="812800" cy="12040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204040"/>
            </a:xfrm>
            <a:custGeom>
              <a:avLst/>
              <a:gdLst/>
              <a:ahLst/>
              <a:cxnLst/>
              <a:rect l="l" t="t" r="r" b="b"/>
              <a:pathLst>
                <a:path w="812800" h="120404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7800" y="-47625"/>
              <a:ext cx="558800" cy="1251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37389" y="3007840"/>
            <a:ext cx="14165680" cy="4556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6982" lvl="1" indent="-348491" algn="l">
              <a:lnSpc>
                <a:spcPts val="4519"/>
              </a:lnSpc>
              <a:buFont typeface="Arial"/>
              <a:buChar char="•"/>
            </a:pPr>
            <a:r>
              <a:rPr lang="en-US" sz="3228" spc="132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 modelagem virtual em linguagem Ladder é perfeitamente traduzível para o hardware real.</a:t>
            </a:r>
          </a:p>
          <a:p>
            <a:pPr algn="l">
              <a:lnSpc>
                <a:spcPts val="4519"/>
              </a:lnSpc>
            </a:pPr>
            <a:endParaRPr lang="en-US" sz="3228" spc="132">
              <a:solidFill>
                <a:srgbClr val="2A2E3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696982" lvl="1" indent="-348491" algn="l">
              <a:lnSpc>
                <a:spcPts val="4519"/>
              </a:lnSpc>
              <a:buFont typeface="Arial"/>
              <a:buChar char="•"/>
            </a:pPr>
            <a:r>
              <a:rPr lang="en-US" sz="3228" spc="132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O mapeamento correto de sensores e atuadores elimina falhas operacionais e humanas.</a:t>
            </a:r>
          </a:p>
          <a:p>
            <a:pPr algn="l">
              <a:lnSpc>
                <a:spcPts val="4519"/>
              </a:lnSpc>
            </a:pPr>
            <a:endParaRPr lang="en-US" sz="3228" spc="132">
              <a:solidFill>
                <a:srgbClr val="2A2E3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696982" lvl="1" indent="-348491" algn="l">
              <a:lnSpc>
                <a:spcPts val="4519"/>
              </a:lnSpc>
              <a:buFont typeface="Arial"/>
              <a:buChar char="•"/>
            </a:pPr>
            <a:r>
              <a:rPr lang="en-US" sz="3228" spc="132">
                <a:solidFill>
                  <a:srgbClr val="2A2E3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Sistemas ciberfísicos bem projetados são a base de uma automação industrial segura e eficiente.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490D3-90D7-604E-7189-610A0FE5D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4FF4FD9-A92F-EF12-033D-25CD9FD73C50}"/>
              </a:ext>
            </a:extLst>
          </p:cNvPr>
          <p:cNvSpPr/>
          <p:nvPr/>
        </p:nvSpPr>
        <p:spPr>
          <a:xfrm rot="-8100000">
            <a:off x="12940796" y="4810599"/>
            <a:ext cx="4879847" cy="11841151"/>
          </a:xfrm>
          <a:custGeom>
            <a:avLst/>
            <a:gdLst/>
            <a:ahLst/>
            <a:cxnLst/>
            <a:rect l="l" t="t" r="r" b="b"/>
            <a:pathLst>
              <a:path w="4879847" h="15755995">
                <a:moveTo>
                  <a:pt x="0" y="0"/>
                </a:moveTo>
                <a:lnTo>
                  <a:pt x="4879847" y="0"/>
                </a:lnTo>
                <a:lnTo>
                  <a:pt x="4879847" y="15755996"/>
                </a:lnTo>
                <a:lnTo>
                  <a:pt x="0" y="15755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525794" t="-40822" b="-5299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2C9FDCB-7990-648D-AD82-06CEA59B8435}"/>
              </a:ext>
            </a:extLst>
          </p:cNvPr>
          <p:cNvSpPr txBox="1"/>
          <p:nvPr/>
        </p:nvSpPr>
        <p:spPr>
          <a:xfrm>
            <a:off x="3954019" y="5143500"/>
            <a:ext cx="9858428" cy="1798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45"/>
              </a:lnSpc>
            </a:pPr>
            <a:r>
              <a:rPr lang="en-US" sz="11871" b="1" spc="427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Perguntas?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D2D9B24-A4DE-41E1-410F-2CF5F50A8255}"/>
              </a:ext>
            </a:extLst>
          </p:cNvPr>
          <p:cNvSpPr/>
          <p:nvPr/>
        </p:nvSpPr>
        <p:spPr>
          <a:xfrm rot="2700000">
            <a:off x="521329" y="-3317944"/>
            <a:ext cx="2336254" cy="7543272"/>
          </a:xfrm>
          <a:custGeom>
            <a:avLst/>
            <a:gdLst/>
            <a:ahLst/>
            <a:cxnLst/>
            <a:rect l="l" t="t" r="r" b="b"/>
            <a:pathLst>
              <a:path w="2336254" h="7543272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525794" t="-40822" b="-5299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E894E50-8ED8-9156-580F-00733FAB7369}"/>
              </a:ext>
            </a:extLst>
          </p:cNvPr>
          <p:cNvSpPr/>
          <p:nvPr/>
        </p:nvSpPr>
        <p:spPr>
          <a:xfrm rot="5400000">
            <a:off x="-434583" y="-7892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28AD075-4A3C-11E2-985F-A165BD786FF0}"/>
              </a:ext>
            </a:extLst>
          </p:cNvPr>
          <p:cNvSpPr/>
          <p:nvPr/>
        </p:nvSpPr>
        <p:spPr>
          <a:xfrm>
            <a:off x="1972758" y="7454921"/>
            <a:ext cx="540836" cy="534936"/>
          </a:xfrm>
          <a:custGeom>
            <a:avLst/>
            <a:gdLst/>
            <a:ahLst/>
            <a:cxnLst/>
            <a:rect l="l" t="t" r="r" b="b"/>
            <a:pathLst>
              <a:path w="540836" h="534936">
                <a:moveTo>
                  <a:pt x="0" y="0"/>
                </a:moveTo>
                <a:lnTo>
                  <a:pt x="540836" y="0"/>
                </a:lnTo>
                <a:lnTo>
                  <a:pt x="540836" y="534936"/>
                </a:lnTo>
                <a:lnTo>
                  <a:pt x="0" y="534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45EAFD5-A9FD-0246-D5BD-57BDB4A1B7DA}"/>
              </a:ext>
            </a:extLst>
          </p:cNvPr>
          <p:cNvSpPr/>
          <p:nvPr/>
        </p:nvSpPr>
        <p:spPr>
          <a:xfrm rot="-10800000">
            <a:off x="8951886" y="7176475"/>
            <a:ext cx="9336114" cy="9336114"/>
          </a:xfrm>
          <a:custGeom>
            <a:avLst/>
            <a:gdLst/>
            <a:ahLst/>
            <a:cxnLst/>
            <a:rect l="l" t="t" r="r" b="b"/>
            <a:pathLst>
              <a:path w="9336114" h="9336114">
                <a:moveTo>
                  <a:pt x="0" y="0"/>
                </a:moveTo>
                <a:lnTo>
                  <a:pt x="9336114" y="0"/>
                </a:lnTo>
                <a:lnTo>
                  <a:pt x="9336114" y="9336114"/>
                </a:lnTo>
                <a:lnTo>
                  <a:pt x="0" y="93361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1EEDC4B-337B-0420-FB13-0EC1B8D084D1}"/>
              </a:ext>
            </a:extLst>
          </p:cNvPr>
          <p:cNvSpPr txBox="1"/>
          <p:nvPr/>
        </p:nvSpPr>
        <p:spPr>
          <a:xfrm>
            <a:off x="-493438" y="1433522"/>
            <a:ext cx="17752738" cy="4353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60"/>
              </a:lnSpc>
            </a:pPr>
            <a:r>
              <a:rPr lang="en-US" sz="24383" b="1" spc="804">
                <a:solidFill>
                  <a:srgbClr val="052A47">
                    <a:alpha val="32941"/>
                  </a:srgbClr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Obrigado!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E4F3AC4-0ED6-05A1-8D21-BB15A98656D3}"/>
              </a:ext>
            </a:extLst>
          </p:cNvPr>
          <p:cNvSpPr/>
          <p:nvPr/>
        </p:nvSpPr>
        <p:spPr>
          <a:xfrm>
            <a:off x="381000" y="1821606"/>
            <a:ext cx="17145000" cy="57471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3600" dirty="0"/>
              <a:t>CALVETTI, Robson. </a:t>
            </a:r>
            <a:r>
              <a:rPr lang="pt-BR" sz="3600" i="1" dirty="0"/>
              <a:t>Diretrizes de Projeto para A3: Sistemas Automatizados</a:t>
            </a:r>
            <a:r>
              <a:rPr lang="pt-BR" sz="3600" dirty="0"/>
              <a:t>. Versão 1.0. São Paulo: Universidade São Judas Tadeu (USJT), 2026.</a:t>
            </a:r>
          </a:p>
          <a:p>
            <a:r>
              <a:rPr lang="pt-BR" sz="3600" dirty="0"/>
              <a:t>CAPELLI, Alexandre. </a:t>
            </a:r>
            <a:r>
              <a:rPr lang="pt-BR" sz="3600" i="1" dirty="0"/>
              <a:t>Automação Industrial: Controle do Movimento e Processos Contínuos</a:t>
            </a:r>
            <a:r>
              <a:rPr lang="pt-BR" sz="3600" dirty="0"/>
              <a:t>. São Paulo: Érica, 2013.</a:t>
            </a:r>
          </a:p>
          <a:p>
            <a:r>
              <a:rPr lang="pt-BR" sz="3600" dirty="0"/>
              <a:t>FRANCHI, Claiton Moro. </a:t>
            </a:r>
            <a:r>
              <a:rPr lang="pt-BR" sz="3600" i="1" dirty="0"/>
              <a:t>Controladores Lógicos Programáveis: Sistemas Discretos</a:t>
            </a:r>
            <a:r>
              <a:rPr lang="pt-BR" sz="3600" dirty="0"/>
              <a:t>. São Paulo: Érica, 2018.</a:t>
            </a:r>
          </a:p>
          <a:p>
            <a:r>
              <a:rPr lang="pt-BR" sz="3600" dirty="0"/>
              <a:t>NATALE, Ferdinando. </a:t>
            </a:r>
            <a:r>
              <a:rPr lang="pt-BR" sz="3600" i="1" dirty="0"/>
              <a:t>Automação Industrial</a:t>
            </a:r>
            <a:r>
              <a:rPr lang="pt-BR" sz="3600" dirty="0"/>
              <a:t>. São Paulo: Érica, 2008.</a:t>
            </a:r>
          </a:p>
          <a:p>
            <a:r>
              <a:rPr lang="pt-BR" sz="3600" dirty="0"/>
              <a:t>SILVEIRA, Paulo Rogério da; SANTOS, </a:t>
            </a:r>
            <a:r>
              <a:rPr lang="pt-BR" sz="3600" dirty="0" err="1"/>
              <a:t>Winderson</a:t>
            </a:r>
            <a:r>
              <a:rPr lang="pt-BR" sz="3600" dirty="0"/>
              <a:t> E. </a:t>
            </a:r>
            <a:r>
              <a:rPr lang="pt-BR" sz="3600" i="1" dirty="0"/>
              <a:t>Automação e Controle Discreto</a:t>
            </a:r>
            <a:r>
              <a:rPr lang="pt-BR" sz="3600" dirty="0"/>
              <a:t>. São Paulo: Érica, 2014.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464AFBC-5EE2-ED97-CA2F-E77E4415EFA2}"/>
              </a:ext>
            </a:extLst>
          </p:cNvPr>
          <p:cNvSpPr txBox="1"/>
          <p:nvPr/>
        </p:nvSpPr>
        <p:spPr>
          <a:xfrm>
            <a:off x="3452880" y="448149"/>
            <a:ext cx="54303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REFERÊNCIAS</a:t>
            </a:r>
            <a:endParaRPr lang="pt-BR" sz="4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306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387</Words>
  <Application>Microsoft Office PowerPoint</Application>
  <PresentationFormat>Personalizar</PresentationFormat>
  <Paragraphs>51</Paragraphs>
  <Slides>9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Montserrat Classic Bold</vt:lpstr>
      <vt:lpstr>Aptos Display</vt:lpstr>
      <vt:lpstr>Arial</vt:lpstr>
      <vt:lpstr>Montserrat Classic</vt:lpstr>
      <vt:lpstr>Calibri</vt:lpstr>
      <vt:lpstr>Office Theme</vt:lpstr>
      <vt:lpstr>Worksheet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A3</dc:title>
  <cp:lastModifiedBy>JOSUÉ GOMES DE OLIVEIRA JUNIOR</cp:lastModifiedBy>
  <cp:revision>7</cp:revision>
  <dcterms:created xsi:type="dcterms:W3CDTF">2006-08-16T00:00:00Z</dcterms:created>
  <dcterms:modified xsi:type="dcterms:W3CDTF">2026-06-11T04:46:51Z</dcterms:modified>
  <dc:identifier>DAGVEC0QjrQ</dc:identifier>
</cp:coreProperties>
</file>